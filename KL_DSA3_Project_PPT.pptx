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project: a tool that finds the cheapest order to multiply a chain of up to 500 matrices.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sections follow the order of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what the tool does and the headline numbers: up to 500 matrices, O(n^3) time, about 89 percent fewer multiplications on the 500-matrix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product, ten times the work. Trying every bracketing is exponential, so we use dynamic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existing resources were studied; their URLs are in the report references. Our contribution is the full tool with comparison and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Statement, description and the five objectives, as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six steps. Step 3 is the interval dynamic programming: chains of length 2, then 3, up to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are real runs of the program. The saving depends on the dimensions; it is zero when naive order is already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extra packages are needed; the program uses only the Python standard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demonstrates optimal substructure, overlapping subproblems and bottom-up interval dynamic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Near, medium and long term ideas for extending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5376" y="1005840"/>
            <a:ext cx="9144000" cy="1828800"/>
          </a:xfrm>
        </p:spPr>
        <p:txBody>
          <a:bodyPr/>
          <a:lstStyle/>
          <a:p>
            <a:pPr algn="ctr"/>
            <a:r>
              <a:rPr sz="2800" b="1" i="0">
                <a:solidFill>
                  <a:srgbClr val="C00000"/>
                </a:solidFill>
                <a:latin typeface="Calibri"/>
              </a:rPr>
              <a:t>Data Structures and Algorithms -3 (25CS2103E)</a:t>
            </a:r>
          </a:p>
          <a:p>
            <a:pPr algn="ctr">
              <a:spcBef>
                <a:spcPts val="1400"/>
              </a:spcBef>
            </a:pPr>
            <a:r>
              <a:rPr sz="3600" b="1" i="0">
                <a:solidFill>
                  <a:srgbClr val="C00000"/>
                </a:solidFill>
                <a:latin typeface="Calibri"/>
              </a:rPr>
              <a:t>Matrix Chain Multiplication Optimizer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5376" y="3063240"/>
            <a:ext cx="9144000" cy="3200400"/>
          </a:xfrm>
        </p:spPr>
        <p:txBody>
          <a:bodyPr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0070C0"/>
                </a:solidFill>
                <a:latin typeface="Calibri"/>
              </a:rPr>
              <a:t>Team 20  |  Section 1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0070C0"/>
                </a:solidFill>
                <a:latin typeface="Calibri"/>
              </a:rPr>
              <a:t>Ayusha Das – 2520039624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0070C0"/>
                </a:solidFill>
                <a:latin typeface="Calibri"/>
              </a:rPr>
              <a:t>Tokala Pratyusha Reddy – 2520030612</a:t>
            </a:r>
          </a:p>
          <a:p>
            <a:pPr algn="ctr">
              <a:spcAft>
                <a:spcPts val="2200"/>
              </a:spcAft>
            </a:pPr>
            <a:r>
              <a:rPr sz="2000" b="0" i="0">
                <a:solidFill>
                  <a:srgbClr val="0070C0"/>
                </a:solidFill>
                <a:latin typeface="Calibri"/>
              </a:rPr>
              <a:t>M. Manasa – 2520030438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</a:rPr>
              <a:t>Under the Esteemed Guidance of</a:t>
            </a:r>
          </a:p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62626"/>
                </a:solidFill>
                <a:latin typeface="Times New Roman"/>
              </a:rPr>
              <a:t>Dr. Ch Anuradha, Assistant Professor,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Flow Chart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</a:p>
          <a:p>
            <a:pPr marL="457200" indent="-457200" algn="l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abstract-text"/>
          <p:cNvSpPr txBox="1"/>
          <p:nvPr/>
        </p:nvSpPr>
        <p:spPr>
          <a:xfrm>
            <a:off x="3017520" y="1234440"/>
            <a:ext cx="87782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Multiplying a chain of matrices gives the same product in any bracketing, but the number of scalar multiplications can differ by orders of magnitude. This project builds a tool that uses interval dynamic programming to find the cheapest order for up to 500 matrices.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From the matrix dimensions alone it reports the minimum cost and the optimal parenthesization, and compares them with naive left-to-right multiplication. On the classic six-matrix example the cost falls from 40,500 to 15,125 multiplications.</a:t>
            </a:r>
          </a:p>
        </p:txBody>
      </p:sp>
      <p:sp>
        <p:nvSpPr>
          <p:cNvPr id="5" name="kpi-card-0"/>
          <p:cNvSpPr/>
          <p:nvPr/>
        </p:nvSpPr>
        <p:spPr>
          <a:xfrm>
            <a:off x="3017520" y="4114800"/>
            <a:ext cx="2834640" cy="173736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-big-0"/>
          <p:cNvSpPr txBox="1"/>
          <p:nvPr/>
        </p:nvSpPr>
        <p:spPr>
          <a:xfrm>
            <a:off x="3200400" y="425196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C00000"/>
                </a:solidFill>
                <a:latin typeface="Calibri"/>
              </a:rPr>
              <a:t>≤ 500</a:t>
            </a:r>
          </a:p>
        </p:txBody>
      </p:sp>
      <p:sp>
        <p:nvSpPr>
          <p:cNvPr id="7" name="kpi-small-0"/>
          <p:cNvSpPr txBox="1"/>
          <p:nvPr/>
        </p:nvSpPr>
        <p:spPr>
          <a:xfrm>
            <a:off x="3200400" y="50292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matrices supported</a:t>
            </a:r>
          </a:p>
        </p:txBody>
      </p:sp>
      <p:sp>
        <p:nvSpPr>
          <p:cNvPr id="8" name="kpi-card-1"/>
          <p:cNvSpPr/>
          <p:nvPr/>
        </p:nvSpPr>
        <p:spPr>
          <a:xfrm>
            <a:off x="5989320" y="4114800"/>
            <a:ext cx="2834640" cy="173736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pi-big-1"/>
          <p:cNvSpPr txBox="1"/>
          <p:nvPr/>
        </p:nvSpPr>
        <p:spPr>
          <a:xfrm>
            <a:off x="6172200" y="425196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C00000"/>
                </a:solidFill>
                <a:latin typeface="Calibri"/>
              </a:rPr>
              <a:t>O(n³)</a:t>
            </a:r>
          </a:p>
        </p:txBody>
      </p:sp>
      <p:sp>
        <p:nvSpPr>
          <p:cNvPr id="10" name="kpi-small-1"/>
          <p:cNvSpPr txBox="1"/>
          <p:nvPr/>
        </p:nvSpPr>
        <p:spPr>
          <a:xfrm>
            <a:off x="6172200" y="50292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time, O(n²) space</a:t>
            </a:r>
          </a:p>
        </p:txBody>
      </p:sp>
      <p:sp>
        <p:nvSpPr>
          <p:cNvPr id="11" name="kpi-card-2"/>
          <p:cNvSpPr/>
          <p:nvPr/>
        </p:nvSpPr>
        <p:spPr>
          <a:xfrm>
            <a:off x="8961120" y="4114800"/>
            <a:ext cx="2834640" cy="173736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-big-2"/>
          <p:cNvSpPr txBox="1"/>
          <p:nvPr/>
        </p:nvSpPr>
        <p:spPr>
          <a:xfrm>
            <a:off x="9144000" y="425196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C00000"/>
                </a:solidFill>
                <a:latin typeface="Calibri"/>
              </a:rPr>
              <a:t>89%</a:t>
            </a:r>
          </a:p>
        </p:txBody>
      </p:sp>
      <p:sp>
        <p:nvSpPr>
          <p:cNvPr id="13" name="kpi-small-2"/>
          <p:cNvSpPr txBox="1"/>
          <p:nvPr/>
        </p:nvSpPr>
        <p:spPr>
          <a:xfrm>
            <a:off x="9144000" y="50292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fewer multiplications, 500-matrix test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intro-text"/>
          <p:cNvSpPr txBox="1"/>
          <p:nvPr/>
        </p:nvSpPr>
        <p:spPr>
          <a:xfrm>
            <a:off x="3017520" y="1234440"/>
            <a:ext cx="8778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Matrix multiplication is associative, so the product A1 × A2 × … × An is the same however it is bracketed. The cost is not: multiplying a p × q matrix by a q × r matrix needs p · q · r scalar multiplications, so the order decides how much work is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83464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595959"/>
                </a:solidFill>
                <a:latin typeface="Calibri"/>
              </a:rPr>
              <a:t>Example: A is 10×100, B is 100×5, C is 5×50</a:t>
            </a:r>
          </a:p>
        </p:txBody>
      </p:sp>
      <p:sp>
        <p:nvSpPr>
          <p:cNvPr id="6" name="order-card-0"/>
          <p:cNvSpPr/>
          <p:nvPr/>
        </p:nvSpPr>
        <p:spPr>
          <a:xfrm>
            <a:off x="3017520" y="3337560"/>
            <a:ext cx="2834640" cy="246888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rder-label-0"/>
          <p:cNvSpPr txBox="1"/>
          <p:nvPr/>
        </p:nvSpPr>
        <p:spPr>
          <a:xfrm>
            <a:off x="3246120" y="3474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262626"/>
                </a:solidFill>
                <a:latin typeface="Calibri"/>
              </a:rPr>
              <a:t>(A × B) × C</a:t>
            </a:r>
          </a:p>
        </p:txBody>
      </p:sp>
      <p:sp>
        <p:nvSpPr>
          <p:cNvPr id="8" name="order-value-0"/>
          <p:cNvSpPr txBox="1"/>
          <p:nvPr/>
        </p:nvSpPr>
        <p:spPr>
          <a:xfrm>
            <a:off x="3246120" y="40233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2E7D32"/>
                </a:solidFill>
                <a:latin typeface="Calibri"/>
              </a:rPr>
              <a:t>7,500</a:t>
            </a:r>
          </a:p>
        </p:txBody>
      </p:sp>
      <p:sp>
        <p:nvSpPr>
          <p:cNvPr id="9" name="order-sub-0"/>
          <p:cNvSpPr txBox="1"/>
          <p:nvPr/>
        </p:nvSpPr>
        <p:spPr>
          <a:xfrm>
            <a:off x="3246120" y="49834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5,000 + 2,500 multiplications</a:t>
            </a:r>
          </a:p>
        </p:txBody>
      </p:sp>
      <p:sp>
        <p:nvSpPr>
          <p:cNvPr id="10" name="order-card-1"/>
          <p:cNvSpPr/>
          <p:nvPr/>
        </p:nvSpPr>
        <p:spPr>
          <a:xfrm>
            <a:off x="6035040" y="3337560"/>
            <a:ext cx="2834640" cy="246888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rder-label-1"/>
          <p:cNvSpPr txBox="1"/>
          <p:nvPr/>
        </p:nvSpPr>
        <p:spPr>
          <a:xfrm>
            <a:off x="6263640" y="3474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262626"/>
                </a:solidFill>
                <a:latin typeface="Calibri"/>
              </a:rPr>
              <a:t>A × (B × C)</a:t>
            </a:r>
          </a:p>
        </p:txBody>
      </p:sp>
      <p:sp>
        <p:nvSpPr>
          <p:cNvPr id="12" name="order-value-1"/>
          <p:cNvSpPr txBox="1"/>
          <p:nvPr/>
        </p:nvSpPr>
        <p:spPr>
          <a:xfrm>
            <a:off x="6263640" y="40233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C00000"/>
                </a:solidFill>
                <a:latin typeface="Calibri"/>
              </a:rPr>
              <a:t>75,000</a:t>
            </a:r>
          </a:p>
        </p:txBody>
      </p:sp>
      <p:sp>
        <p:nvSpPr>
          <p:cNvPr id="13" name="order-sub-1"/>
          <p:cNvSpPr txBox="1"/>
          <p:nvPr/>
        </p:nvSpPr>
        <p:spPr>
          <a:xfrm>
            <a:off x="6263640" y="49834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25,000 + 50,000 multiplications</a:t>
            </a:r>
          </a:p>
        </p:txBody>
      </p:sp>
      <p:sp>
        <p:nvSpPr>
          <p:cNvPr id="14" name="tenx-badge"/>
          <p:cNvSpPr/>
          <p:nvPr/>
        </p:nvSpPr>
        <p:spPr>
          <a:xfrm>
            <a:off x="9326880" y="3657600"/>
            <a:ext cx="2194560" cy="21945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nx-text"/>
          <p:cNvSpPr txBox="1"/>
          <p:nvPr/>
        </p:nvSpPr>
        <p:spPr>
          <a:xfrm>
            <a:off x="9326880" y="3657600"/>
            <a:ext cx="219456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10×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more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literature-table"/>
          <p:cNvGraphicFramePr>
            <a:graphicFrameLocks noGrp="1"/>
          </p:cNvGraphicFramePr>
          <p:nvPr/>
        </p:nvGraphicFramePr>
        <p:xfrm>
          <a:off x="3017520" y="1188720"/>
          <a:ext cx="8778240" cy="384048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834640"/>
                <a:gridCol w="59436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What it covers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Calibri"/>
                        </a:rPr>
                        <a:t>alexmolas.com blog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1EE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Brute force vs memoized DP in Python; memoization up to about 100,000× faster at n ≈ 18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Calibri"/>
                        </a:rPr>
                        <a:t>HelloACM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1EE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Recursive, memoized and bottom-up versions in pseudocode; bottom-up runs in O(n³)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Calibri"/>
                        </a:rPr>
                        <a:t>Bowdoin CS231 lecture (CLRS 15.2)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1EE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Recurrence and n × n table, O(n³); cost only, order left as an exercise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Calibri"/>
                        </a:rPr>
                        <a:t>OpenDSA / SPLICE (Virginia Tech)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1EE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Visualizes the recursive call tree of the DP solution; a teaching aid, not a tool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Calibri"/>
                        </a:rPr>
                        <a:t>AfterAcademy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1EE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Problem statement with worked examples (30,000 and 6,000); no solution or complexity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Calibri"/>
                        </a:rPr>
                        <a:t>Medium article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1EE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Four-matrix walk-through with cost and bracket tables; no code or formal complexity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gap-note"/>
          <p:cNvSpPr txBox="1"/>
          <p:nvPr/>
        </p:nvSpPr>
        <p:spPr>
          <a:xfrm>
            <a:off x="3017520" y="544068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Calibri"/>
              </a:rPr>
              <a:t>Gap: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most sources explain the method or compute only the cost. Our tool also prints the optimal parenthesization, compares it with naive multiplication, validates the input and supports 500 matrices.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statement-card"/>
          <p:cNvSpPr/>
          <p:nvPr/>
        </p:nvSpPr>
        <p:spPr>
          <a:xfrm>
            <a:off x="3017520" y="1234440"/>
            <a:ext cx="8778240" cy="105156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tement-text"/>
          <p:cNvSpPr txBox="1"/>
          <p:nvPr/>
        </p:nvSpPr>
        <p:spPr>
          <a:xfrm>
            <a:off x="3246120" y="1325880"/>
            <a:ext cx="8321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Calibri"/>
              </a:rPr>
              <a:t>Problem statement: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Develop an optimization tool that finds the order of multiplying a chain of up to 500 matrices that minimizes the total number of scalar multiplications, using dynamic programming.</a:t>
            </a:r>
          </a:p>
        </p:txBody>
      </p:sp>
      <p:sp>
        <p:nvSpPr>
          <p:cNvPr id="6" name="description-card"/>
          <p:cNvSpPr/>
          <p:nvPr/>
        </p:nvSpPr>
        <p:spPr>
          <a:xfrm>
            <a:off x="3017520" y="2423160"/>
            <a:ext cx="8778240" cy="105156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scription-text"/>
          <p:cNvSpPr txBox="1"/>
          <p:nvPr/>
        </p:nvSpPr>
        <p:spPr>
          <a:xfrm>
            <a:off x="3246120" y="2514600"/>
            <a:ext cx="8321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Calibri"/>
              </a:rPr>
              <a:t>Problem description: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From the matrix dimensions alone, output the minimum cost and the optimal parenthesization, and compare them with naive left-to-right multiplication.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65760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Calibri"/>
              </a:rPr>
              <a:t>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4114800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objective-1"/>
          <p:cNvSpPr txBox="1"/>
          <p:nvPr/>
        </p:nvSpPr>
        <p:spPr>
          <a:xfrm>
            <a:off x="3520439" y="4114800"/>
            <a:ext cx="82753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Model the problem with an interval DP recurrence (optimal substructure, overlapping subproblems)</a:t>
            </a:r>
          </a:p>
        </p:txBody>
      </p:sp>
      <p:sp>
        <p:nvSpPr>
          <p:cNvPr id="11" name="Oval 10"/>
          <p:cNvSpPr/>
          <p:nvPr/>
        </p:nvSpPr>
        <p:spPr>
          <a:xfrm>
            <a:off x="3017520" y="4572000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objective-2"/>
          <p:cNvSpPr txBox="1"/>
          <p:nvPr/>
        </p:nvSpPr>
        <p:spPr>
          <a:xfrm>
            <a:off x="3520439" y="4572000"/>
            <a:ext cx="82753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Compute the minimum cost for up to 500 matrices in O(n³) time and O(n²) space</a:t>
            </a:r>
          </a:p>
        </p:txBody>
      </p:sp>
      <p:sp>
        <p:nvSpPr>
          <p:cNvPr id="13" name="Oval 12"/>
          <p:cNvSpPr/>
          <p:nvPr/>
        </p:nvSpPr>
        <p:spPr>
          <a:xfrm>
            <a:off x="3017520" y="5029200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objective-3"/>
          <p:cNvSpPr txBox="1"/>
          <p:nvPr/>
        </p:nvSpPr>
        <p:spPr>
          <a:xfrm>
            <a:off x="3520439" y="5029200"/>
            <a:ext cx="82753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Display the optimal parenthesization and its cost</a:t>
            </a:r>
          </a:p>
        </p:txBody>
      </p:sp>
      <p:sp>
        <p:nvSpPr>
          <p:cNvPr id="15" name="Oval 14"/>
          <p:cNvSpPr/>
          <p:nvPr/>
        </p:nvSpPr>
        <p:spPr>
          <a:xfrm>
            <a:off x="3017520" y="5486400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objective-4"/>
          <p:cNvSpPr txBox="1"/>
          <p:nvPr/>
        </p:nvSpPr>
        <p:spPr>
          <a:xfrm>
            <a:off x="3520439" y="5486400"/>
            <a:ext cx="82753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Compare with naive left-to-right multiplication: savings and speed-up</a:t>
            </a:r>
          </a:p>
        </p:txBody>
      </p:sp>
      <p:sp>
        <p:nvSpPr>
          <p:cNvPr id="17" name="Oval 16"/>
          <p:cNvSpPr/>
          <p:nvPr/>
        </p:nvSpPr>
        <p:spPr>
          <a:xfrm>
            <a:off x="3017520" y="5943600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objective-5"/>
          <p:cNvSpPr txBox="1"/>
          <p:nvPr/>
        </p:nvSpPr>
        <p:spPr>
          <a:xfrm>
            <a:off x="3520439" y="5943600"/>
            <a:ext cx="82753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Validate the input and verify on known examples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step-1"/>
          <p:cNvSpPr/>
          <p:nvPr/>
        </p:nvSpPr>
        <p:spPr>
          <a:xfrm>
            <a:off x="3017520" y="1417320"/>
            <a:ext cx="2560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154679" y="1554480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step-text-1"/>
          <p:cNvSpPr txBox="1"/>
          <p:nvPr/>
        </p:nvSpPr>
        <p:spPr>
          <a:xfrm>
            <a:off x="3200400" y="20116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Read n and the n + 1 dimensions d0 … dn</a:t>
            </a:r>
          </a:p>
        </p:txBody>
      </p:sp>
      <p:sp>
        <p:nvSpPr>
          <p:cNvPr id="7" name="step-2"/>
          <p:cNvSpPr/>
          <p:nvPr/>
        </p:nvSpPr>
        <p:spPr>
          <a:xfrm>
            <a:off x="6126479" y="1417320"/>
            <a:ext cx="2560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63640" y="1554480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step-text-2"/>
          <p:cNvSpPr txBox="1"/>
          <p:nvPr/>
        </p:nvSpPr>
        <p:spPr>
          <a:xfrm>
            <a:off x="6309359" y="20116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Validate: n ≤ 500 and all dimensions &gt; 0</a:t>
            </a:r>
          </a:p>
        </p:txBody>
      </p:sp>
      <p:sp>
        <p:nvSpPr>
          <p:cNvPr id="10" name="step-3"/>
          <p:cNvSpPr/>
          <p:nvPr/>
        </p:nvSpPr>
        <p:spPr>
          <a:xfrm>
            <a:off x="9235440" y="1417320"/>
            <a:ext cx="2560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72600" y="1554480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step-text-3"/>
          <p:cNvSpPr txBox="1"/>
          <p:nvPr/>
        </p:nvSpPr>
        <p:spPr>
          <a:xfrm>
            <a:off x="9418319" y="20116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Fill tables m and s by chain length L = 2 … n</a:t>
            </a:r>
          </a:p>
        </p:txBody>
      </p:sp>
      <p:sp>
        <p:nvSpPr>
          <p:cNvPr id="13" name="step-4"/>
          <p:cNvSpPr/>
          <p:nvPr/>
        </p:nvSpPr>
        <p:spPr>
          <a:xfrm>
            <a:off x="9235440" y="3749039"/>
            <a:ext cx="2560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3886200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step-text-4"/>
          <p:cNvSpPr txBox="1"/>
          <p:nvPr/>
        </p:nvSpPr>
        <p:spPr>
          <a:xfrm>
            <a:off x="9418319" y="43434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Rebuild the brackets from table s</a:t>
            </a:r>
          </a:p>
        </p:txBody>
      </p:sp>
      <p:sp>
        <p:nvSpPr>
          <p:cNvPr id="16" name="step-5"/>
          <p:cNvSpPr/>
          <p:nvPr/>
        </p:nvSpPr>
        <p:spPr>
          <a:xfrm>
            <a:off x="6126479" y="3749039"/>
            <a:ext cx="2560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63640" y="3886200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step-text-5"/>
          <p:cNvSpPr txBox="1"/>
          <p:nvPr/>
        </p:nvSpPr>
        <p:spPr>
          <a:xfrm>
            <a:off x="6309359" y="43434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Compute the naive left-to-right cost</a:t>
            </a:r>
          </a:p>
        </p:txBody>
      </p:sp>
      <p:sp>
        <p:nvSpPr>
          <p:cNvPr id="19" name="step-6"/>
          <p:cNvSpPr/>
          <p:nvPr/>
        </p:nvSpPr>
        <p:spPr>
          <a:xfrm>
            <a:off x="3017520" y="3749039"/>
            <a:ext cx="2560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4679" y="3886200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step-text-6"/>
          <p:cNvSpPr txBox="1"/>
          <p:nvPr/>
        </p:nvSpPr>
        <p:spPr>
          <a:xfrm>
            <a:off x="3200400" y="43434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Print optimal cost, order, naive cost, savings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650992" y="1874519"/>
            <a:ext cx="402335" cy="41148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759952" y="1874519"/>
            <a:ext cx="402335" cy="41148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10287000" y="2834640"/>
            <a:ext cx="457200" cy="822959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ft Arrow 24"/>
          <p:cNvSpPr/>
          <p:nvPr/>
        </p:nvSpPr>
        <p:spPr>
          <a:xfrm>
            <a:off x="8759952" y="4206240"/>
            <a:ext cx="402335" cy="411480"/>
          </a:xfrm>
          <a:prstGeom prst="lef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5650992" y="4206240"/>
            <a:ext cx="402335" cy="411480"/>
          </a:xfrm>
          <a:prstGeom prst="lef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low-note"/>
          <p:cNvSpPr txBox="1"/>
          <p:nvPr/>
        </p:nvSpPr>
        <p:spPr>
          <a:xfrm>
            <a:off x="3017520" y="544068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Calibri"/>
              </a:rPr>
              <a:t>If validation fails,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the program prints an error message and stops. The tables m (minimum costs) and s (best split points) are filled once, bottom-up.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screenshot-1" descr="ksh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188720"/>
            <a:ext cx="4297680" cy="1667909"/>
          </a:xfrm>
          <a:prstGeom prst="rect">
            <a:avLst/>
          </a:prstGeom>
        </p:spPr>
      </p:pic>
      <p:sp>
        <p:nvSpPr>
          <p:cNvPr id="5" name="caption-1"/>
          <p:cNvSpPr txBox="1"/>
          <p:nvPr/>
        </p:nvSpPr>
        <p:spPr>
          <a:xfrm>
            <a:off x="3017520" y="2966357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6 matrices: optimal cost 15,125 against 40,500 for naive, 62.65% fewer multiplications.</a:t>
            </a:r>
          </a:p>
        </p:txBody>
      </p:sp>
      <p:pic>
        <p:nvPicPr>
          <p:cNvPr id="6" name="screenshot-2" descr="ksho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188720"/>
            <a:ext cx="4297680" cy="1667909"/>
          </a:xfrm>
          <a:prstGeom prst="rect">
            <a:avLst/>
          </a:prstGeom>
        </p:spPr>
      </p:pic>
      <p:sp>
        <p:nvSpPr>
          <p:cNvPr id="7" name="caption-2"/>
          <p:cNvSpPr txBox="1"/>
          <p:nvPr/>
        </p:nvSpPr>
        <p:spPr>
          <a:xfrm>
            <a:off x="7498079" y="2966357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500 random matrices: 6,597,760 against 60,694,424, 89.13% fewer, in about 5 seconds.</a:t>
            </a:r>
          </a:p>
        </p:txBody>
      </p:sp>
      <p:graphicFrame>
        <p:nvGraphicFramePr>
          <p:cNvPr id="8" name="results-table"/>
          <p:cNvGraphicFramePr>
            <a:graphicFrameLocks noGrp="1"/>
          </p:cNvGraphicFramePr>
          <p:nvPr/>
        </p:nvGraphicFramePr>
        <p:xfrm>
          <a:off x="3017520" y="3886200"/>
          <a:ext cx="8778240" cy="190195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017520"/>
                <a:gridCol w="1371600"/>
                <a:gridCol w="1463040"/>
                <a:gridCol w="1554480"/>
                <a:gridCol w="13716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Matrices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Optimal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Naive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Savings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62626"/>
                          </a:solidFill>
                          <a:latin typeface="Calibri"/>
                        </a:rPr>
                        <a:t>Classic example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1EE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/>
                        </a:rPr>
                        <a:t>15,125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/>
                        </a:rPr>
                        <a:t>40,500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/>
                        </a:rPr>
                        <a:t>62.65%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62626"/>
                          </a:solidFill>
                          <a:latin typeface="Calibri"/>
                        </a:rPr>
                        <a:t>Naive already optimal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1EE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262626"/>
                          </a:solidFill>
                          <a:latin typeface="Calibri"/>
                        </a:rPr>
                        <a:t>Random chain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1EE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/>
                        </a:rPr>
                        <a:t>6,597,760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/>
                        </a:rPr>
                        <a:t>60,694,424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  <a:latin typeface="Calibri"/>
                        </a:rPr>
                        <a:t>89.13%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0CBC7"/>
                      </a:solidFill>
                      <a:prstDash val="solid"/>
                    </a:lnL>
                    <a:lnR w="9525" cap="flat" cmpd="sng" algn="ctr">
                      <a:solidFill>
                        <a:srgbClr val="D0CBC7"/>
                      </a:solidFill>
                      <a:prstDash val="solid"/>
                    </a:lnR>
                    <a:lnT w="9525" cap="flat" cmpd="sng" algn="ctr">
                      <a:solidFill>
                        <a:srgbClr val="D0CBC7"/>
                      </a:solidFill>
                      <a:prstDash val="solid"/>
                    </a:lnT>
                    <a:lnB w="9525" cap="flat" cmpd="sng" algn="ctr">
                      <a:solidFill>
                        <a:srgbClr val="D0C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017520" y="594360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An input of 501 matrices is rejected with an error message, as the limit is 500.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eq-card-0"/>
          <p:cNvSpPr/>
          <p:nvPr/>
        </p:nvSpPr>
        <p:spPr>
          <a:xfrm>
            <a:off x="3017520" y="1325880"/>
            <a:ext cx="4297680" cy="393192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q-head-0"/>
          <p:cNvSpPr txBox="1"/>
          <p:nvPr/>
        </p:nvSpPr>
        <p:spPr>
          <a:xfrm>
            <a:off x="3291839" y="150876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C00000"/>
                </a:solidFill>
                <a:latin typeface="Calibri"/>
              </a:rPr>
              <a:t>Hardware requirements</a:t>
            </a:r>
          </a:p>
        </p:txBody>
      </p:sp>
      <p:sp>
        <p:nvSpPr>
          <p:cNvPr id="6" name="req-items-0"/>
          <p:cNvSpPr txBox="1"/>
          <p:nvPr/>
        </p:nvSpPr>
        <p:spPr>
          <a:xfrm>
            <a:off x="3291839" y="2240280"/>
            <a:ext cx="3749039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05000"/>
              </a:lnSpc>
              <a:spcAft>
                <a:spcPts val="1400"/>
              </a:spcAft>
              <a:buChar char="•"/>
            </a:pPr>
            <a:r>
              <a:rPr sz="1900" b="0" i="0">
                <a:solidFill>
                  <a:srgbClr val="262626"/>
                </a:solidFill>
                <a:latin typeface="Calibri"/>
              </a:rPr>
              <a:t>Computer with a dual-core processor or better</a:t>
            </a:r>
          </a:p>
          <a:p>
            <a:pPr algn="l" marL="256032" indent="-256032">
              <a:lnSpc>
                <a:spcPct val="105000"/>
              </a:lnSpc>
              <a:spcAft>
                <a:spcPts val="1400"/>
              </a:spcAft>
              <a:buChar char="•"/>
            </a:pPr>
            <a:r>
              <a:rPr sz="1900" b="0" i="0">
                <a:solidFill>
                  <a:srgbClr val="262626"/>
                </a:solidFill>
                <a:latin typeface="Calibri"/>
              </a:rPr>
              <a:t>4 GB RAM or more (500 matrices need well under 100 MB)</a:t>
            </a:r>
          </a:p>
          <a:p>
            <a:pPr algn="l" marL="256032" indent="-256032">
              <a:lnSpc>
                <a:spcPct val="105000"/>
              </a:lnSpc>
              <a:spcAft>
                <a:spcPts val="1400"/>
              </a:spcAft>
              <a:buChar char="•"/>
            </a:pPr>
            <a:r>
              <a:rPr sz="1900" b="0" i="0">
                <a:solidFill>
                  <a:srgbClr val="262626"/>
                </a:solidFill>
                <a:latin typeface="Calibri"/>
              </a:rPr>
              <a:t>Keyboard, display and a few MB of free disk space</a:t>
            </a:r>
          </a:p>
        </p:txBody>
      </p:sp>
      <p:sp>
        <p:nvSpPr>
          <p:cNvPr id="7" name="req-card-1"/>
          <p:cNvSpPr/>
          <p:nvPr/>
        </p:nvSpPr>
        <p:spPr>
          <a:xfrm>
            <a:off x="7498079" y="1325880"/>
            <a:ext cx="4297680" cy="393192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q-head-1"/>
          <p:cNvSpPr txBox="1"/>
          <p:nvPr/>
        </p:nvSpPr>
        <p:spPr>
          <a:xfrm>
            <a:off x="7772400" y="150876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C00000"/>
                </a:solidFill>
                <a:latin typeface="Calibri"/>
              </a:rPr>
              <a:t>Software requirements</a:t>
            </a:r>
          </a:p>
        </p:txBody>
      </p:sp>
      <p:sp>
        <p:nvSpPr>
          <p:cNvPr id="9" name="req-items-1"/>
          <p:cNvSpPr txBox="1"/>
          <p:nvPr/>
        </p:nvSpPr>
        <p:spPr>
          <a:xfrm>
            <a:off x="7772400" y="2240280"/>
            <a:ext cx="3749039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05000"/>
              </a:lnSpc>
              <a:spcAft>
                <a:spcPts val="1400"/>
              </a:spcAft>
              <a:buChar char="•"/>
            </a:pPr>
            <a:r>
              <a:rPr sz="1900" b="0" i="0">
                <a:solidFill>
                  <a:srgbClr val="262626"/>
                </a:solidFill>
                <a:latin typeface="Calibri"/>
              </a:rPr>
              <a:t>Windows, Linux or macOS</a:t>
            </a:r>
          </a:p>
          <a:p>
            <a:pPr algn="l" marL="256032" indent="-256032">
              <a:lnSpc>
                <a:spcPct val="105000"/>
              </a:lnSpc>
              <a:spcAft>
                <a:spcPts val="1400"/>
              </a:spcAft>
              <a:buChar char="•"/>
            </a:pPr>
            <a:r>
              <a:rPr sz="1900" b="0" i="0">
                <a:solidFill>
                  <a:srgbClr val="262626"/>
                </a:solidFill>
                <a:latin typeface="Calibri"/>
              </a:rPr>
              <a:t>Python 3.8 or later (standard library only)</a:t>
            </a:r>
          </a:p>
          <a:p>
            <a:pPr algn="l" marL="256032" indent="-256032">
              <a:lnSpc>
                <a:spcPct val="105000"/>
              </a:lnSpc>
              <a:spcAft>
                <a:spcPts val="1400"/>
              </a:spcAft>
              <a:buChar char="•"/>
            </a:pPr>
            <a:r>
              <a:rPr sz="1900" b="0" i="0">
                <a:solidFill>
                  <a:srgbClr val="262626"/>
                </a:solidFill>
                <a:latin typeface="Calibri"/>
              </a:rPr>
              <a:t>Text editor or IDE such as VS Code, PyCharm or IDLE</a:t>
            </a:r>
          </a:p>
          <a:p>
            <a:pPr algn="l" marL="256032" indent="-256032">
              <a:lnSpc>
                <a:spcPct val="105000"/>
              </a:lnSpc>
              <a:spcAft>
                <a:spcPts val="1400"/>
              </a:spcAft>
              <a:buChar char="•"/>
            </a:pPr>
            <a:r>
              <a:rPr sz="1900" b="0" i="0">
                <a:solidFill>
                  <a:srgbClr val="262626"/>
                </a:solidFill>
                <a:latin typeface="Calibri"/>
              </a:rPr>
              <a:t>Terminal or command prompt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conclusion-card-0"/>
          <p:cNvSpPr/>
          <p:nvPr/>
        </p:nvSpPr>
        <p:spPr>
          <a:xfrm>
            <a:off x="3017520" y="1371600"/>
            <a:ext cx="8778240" cy="141732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91839" y="178308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conclusion-head-0"/>
          <p:cNvSpPr txBox="1"/>
          <p:nvPr/>
        </p:nvSpPr>
        <p:spPr>
          <a:xfrm>
            <a:off x="4160520" y="1508760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Calibri"/>
              </a:rPr>
              <a:t>Objectives met</a:t>
            </a:r>
          </a:p>
        </p:txBody>
      </p:sp>
      <p:sp>
        <p:nvSpPr>
          <p:cNvPr id="7" name="conclusion-text-0"/>
          <p:cNvSpPr txBox="1"/>
          <p:nvPr/>
        </p:nvSpPr>
        <p:spPr>
          <a:xfrm>
            <a:off x="4160520" y="2011680"/>
            <a:ext cx="7406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Finds the minimum cost and the optimal parenthesization for chains of up to 500 matrices.</a:t>
            </a:r>
          </a:p>
        </p:txBody>
      </p:sp>
      <p:sp>
        <p:nvSpPr>
          <p:cNvPr id="8" name="conclusion-card-1"/>
          <p:cNvSpPr/>
          <p:nvPr/>
        </p:nvSpPr>
        <p:spPr>
          <a:xfrm>
            <a:off x="3017520" y="2971800"/>
            <a:ext cx="8778240" cy="141732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1839" y="338328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conclusion-head-1"/>
          <p:cNvSpPr txBox="1"/>
          <p:nvPr/>
        </p:nvSpPr>
        <p:spPr>
          <a:xfrm>
            <a:off x="4160520" y="3108960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Calibri"/>
              </a:rPr>
              <a:t>Clear savings</a:t>
            </a:r>
          </a:p>
        </p:txBody>
      </p:sp>
      <p:sp>
        <p:nvSpPr>
          <p:cNvPr id="11" name="conclusion-text-1"/>
          <p:cNvSpPr txBox="1"/>
          <p:nvPr/>
        </p:nvSpPr>
        <p:spPr>
          <a:xfrm>
            <a:off x="4160520" y="3611880"/>
            <a:ext cx="7406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Cost falls from 40,500 to 15,125 on the classic example, and by about 89% on a random 500-matrix chain.</a:t>
            </a:r>
          </a:p>
        </p:txBody>
      </p:sp>
      <p:sp>
        <p:nvSpPr>
          <p:cNvPr id="12" name="conclusion-card-2"/>
          <p:cNvSpPr/>
          <p:nvPr/>
        </p:nvSpPr>
        <p:spPr>
          <a:xfrm>
            <a:off x="3017520" y="4572000"/>
            <a:ext cx="8778240" cy="141732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91839" y="498348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conclusion-head-2"/>
          <p:cNvSpPr txBox="1"/>
          <p:nvPr/>
        </p:nvSpPr>
        <p:spPr>
          <a:xfrm>
            <a:off x="4160520" y="4709160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Calibri"/>
              </a:rPr>
              <a:t>Efficient</a:t>
            </a:r>
          </a:p>
        </p:txBody>
      </p:sp>
      <p:sp>
        <p:nvSpPr>
          <p:cNvPr id="15" name="conclusion-text-2"/>
          <p:cNvSpPr txBox="1"/>
          <p:nvPr/>
        </p:nvSpPr>
        <p:spPr>
          <a:xfrm>
            <a:off x="4160520" y="5212080"/>
            <a:ext cx="7406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O(n³) time and O(n²) space; about 5 seconds for 500 matrices in plain Python.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future-card-0"/>
          <p:cNvSpPr/>
          <p:nvPr/>
        </p:nvSpPr>
        <p:spPr>
          <a:xfrm>
            <a:off x="3017520" y="1371600"/>
            <a:ext cx="2834640" cy="384048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46120" y="160020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future-head-0"/>
          <p:cNvSpPr txBox="1"/>
          <p:nvPr/>
        </p:nvSpPr>
        <p:spPr>
          <a:xfrm>
            <a:off x="3246120" y="2377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Calibri"/>
              </a:rPr>
              <a:t>Near term</a:t>
            </a:r>
          </a:p>
        </p:txBody>
      </p:sp>
      <p:sp>
        <p:nvSpPr>
          <p:cNvPr id="8" name="future-text-0"/>
          <p:cNvSpPr txBox="1"/>
          <p:nvPr/>
        </p:nvSpPr>
        <p:spPr>
          <a:xfrm>
            <a:off x="3246120" y="3017520"/>
            <a:ext cx="23774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A graphical front end that shows the cost and split tables step by step, and export of results to a file.</a:t>
            </a:r>
          </a:p>
        </p:txBody>
      </p:sp>
      <p:sp>
        <p:nvSpPr>
          <p:cNvPr id="9" name="future-card-1"/>
          <p:cNvSpPr/>
          <p:nvPr/>
        </p:nvSpPr>
        <p:spPr>
          <a:xfrm>
            <a:off x="5989320" y="1371600"/>
            <a:ext cx="2834640" cy="384048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0" y="160020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future-head-1"/>
          <p:cNvSpPr txBox="1"/>
          <p:nvPr/>
        </p:nvSpPr>
        <p:spPr>
          <a:xfrm>
            <a:off x="6217920" y="2377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Calibri"/>
              </a:rPr>
              <a:t>Medium term</a:t>
            </a:r>
          </a:p>
        </p:txBody>
      </p:sp>
      <p:sp>
        <p:nvSpPr>
          <p:cNvPr id="12" name="future-text-1"/>
          <p:cNvSpPr txBox="1"/>
          <p:nvPr/>
        </p:nvSpPr>
        <p:spPr>
          <a:xfrm>
            <a:off x="6217920" y="3017520"/>
            <a:ext cx="23774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A faster core in C++ or NumPy, and multiplying real matrices in the optimal order to measure the actual time saved.</a:t>
            </a:r>
          </a:p>
        </p:txBody>
      </p:sp>
      <p:sp>
        <p:nvSpPr>
          <p:cNvPr id="13" name="future-card-2"/>
          <p:cNvSpPr/>
          <p:nvPr/>
        </p:nvSpPr>
        <p:spPr>
          <a:xfrm>
            <a:off x="8961120" y="1371600"/>
            <a:ext cx="2834640" cy="3840480"/>
          </a:xfrm>
          <a:prstGeom prst="roundRect">
            <a:avLst>
              <a:gd name="adj" fmla="val 7000"/>
            </a:avLst>
          </a:prstGeom>
          <a:solidFill>
            <a:srgbClr val="F1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89720" y="160020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future-head-2"/>
          <p:cNvSpPr txBox="1"/>
          <p:nvPr/>
        </p:nvSpPr>
        <p:spPr>
          <a:xfrm>
            <a:off x="9189720" y="2377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Calibri"/>
              </a:rPr>
              <a:t>Long term</a:t>
            </a:r>
          </a:p>
        </p:txBody>
      </p:sp>
      <p:sp>
        <p:nvSpPr>
          <p:cNvPr id="16" name="future-text-2"/>
          <p:cNvSpPr txBox="1"/>
          <p:nvPr/>
        </p:nvSpPr>
        <p:spPr>
          <a:xfrm>
            <a:off x="9189720" y="3017520"/>
            <a:ext cx="23774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The Hu–Shing algorithm, which solves the problem in O(n log n) time, and cost models for sparse matrices or parallel hardware.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  <p:sp>
        <p:nvSpPr>
          <p:cNvPr id="4" name="questions"/>
          <p:cNvSpPr txBox="1"/>
          <p:nvPr/>
        </p:nvSpPr>
        <p:spPr>
          <a:xfrm>
            <a:off x="3739896" y="4251960"/>
            <a:ext cx="49469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62626"/>
                </a:solidFill>
                <a:latin typeface="Calibri"/>
              </a:rPr>
              <a:t>Questions are welcome</a:t>
            </a:r>
          </a:p>
        </p:txBody>
      </p:sp>
      <p:sp>
        <p:nvSpPr>
          <p:cNvPr id="5" name="team-line"/>
          <p:cNvSpPr txBox="1"/>
          <p:nvPr/>
        </p:nvSpPr>
        <p:spPr>
          <a:xfrm>
            <a:off x="3739896" y="4800600"/>
            <a:ext cx="4946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Calibri"/>
              </a:rPr>
              <a:t>Team 20  |  Section 1  |  Guide: Dr. Ch Anuradha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